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HS_MASTER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 w="12700">
            <a:solidFill>
              <a:srgbClr val="0E17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19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GioHomeStudio Hybrid Creator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0" y="641908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Visualized from the uploaded master workflow canvas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GHS Hybrid Master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scene-based, identity-controlled, draft-first production pipeline from story input to final export.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0012680" y="1051560"/>
            <a:ext cx="1755648" cy="4983480"/>
          </a:xfrm>
          <a:prstGeom prst="roundRect">
            <a:avLst>
              <a:gd name="adj" fmla="val 3125"/>
            </a:avLst>
          </a:prstGeom>
          <a:solidFill>
            <a:srgbClr val="101B2D"/>
          </a:solidFill>
          <a:ln w="13970">
            <a:solidFill>
              <a:srgbClr val="203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95560" y="121615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Persistent source of truth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287000" y="1874520"/>
            <a:ext cx="1225296" cy="274320"/>
          </a:xfrm>
          <a:prstGeom prst="roundRect">
            <a:avLst>
              <a:gd name="adj" fmla="val 13333"/>
            </a:avLst>
          </a:prstGeom>
          <a:solidFill>
            <a:srgbClr val="14263D"/>
          </a:solidFill>
          <a:ln w="11430">
            <a:solidFill>
              <a:srgbClr val="3651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51008" y="19293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Character IDs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287000" y="2331720"/>
            <a:ext cx="1225296" cy="274320"/>
          </a:xfrm>
          <a:prstGeom prst="roundRect">
            <a:avLst>
              <a:gd name="adj" fmla="val 13333"/>
            </a:avLst>
          </a:prstGeom>
          <a:solidFill>
            <a:srgbClr val="14263D"/>
          </a:solidFill>
          <a:ln w="11430">
            <a:solidFill>
              <a:srgbClr val="3651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51008" y="23865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Voice IDs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287000" y="2788920"/>
            <a:ext cx="1225296" cy="274320"/>
          </a:xfrm>
          <a:prstGeom prst="roundRect">
            <a:avLst>
              <a:gd name="adj" fmla="val 13333"/>
            </a:avLst>
          </a:prstGeom>
          <a:solidFill>
            <a:srgbClr val="14263D"/>
          </a:solidFill>
          <a:ln w="11430">
            <a:solidFill>
              <a:srgbClr val="3651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51008" y="28437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Scene IDs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287000" y="3246120"/>
            <a:ext cx="1225296" cy="274320"/>
          </a:xfrm>
          <a:prstGeom prst="roundRect">
            <a:avLst>
              <a:gd name="adj" fmla="val 13333"/>
            </a:avLst>
          </a:prstGeom>
          <a:solidFill>
            <a:srgbClr val="14263D"/>
          </a:solidFill>
          <a:ln w="11430">
            <a:solidFill>
              <a:srgbClr val="3651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51008" y="33009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Shot IDs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287000" y="3703320"/>
            <a:ext cx="1225296" cy="274320"/>
          </a:xfrm>
          <a:prstGeom prst="roundRect">
            <a:avLst>
              <a:gd name="adj" fmla="val 13333"/>
            </a:avLst>
          </a:prstGeom>
          <a:solidFill>
            <a:srgbClr val="14263D"/>
          </a:solidFill>
          <a:ln w="11430">
            <a:solidFill>
              <a:srgbClr val="3651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51008" y="37581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Asset IDs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287000" y="4160520"/>
            <a:ext cx="1225296" cy="274320"/>
          </a:xfrm>
          <a:prstGeom prst="roundRect">
            <a:avLst>
              <a:gd name="adj" fmla="val 13333"/>
            </a:avLst>
          </a:prstGeom>
          <a:solidFill>
            <a:srgbClr val="14263D"/>
          </a:solidFill>
          <a:ln w="11430">
            <a:solidFill>
              <a:srgbClr val="3651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51008" y="42153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Timeline IDs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77272" y="4663440"/>
            <a:ext cx="1426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CBD5E1"/>
                </a:solidFill>
              </a:rPr>
              <a:t>Stable across planning, generation, review, regeneration, assembly, and export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347472" y="1115568"/>
            <a:ext cx="9400032" cy="896112"/>
          </a:xfrm>
          <a:prstGeom prst="roundRect">
            <a:avLst>
              <a:gd name="adj" fmla="val 6122"/>
            </a:avLst>
          </a:prstGeom>
          <a:solidFill>
            <a:srgbClr val="101B2D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8912" y="1261872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135331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726"/>
                </a:solidFill>
              </a:rPr>
              <a:t>Story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" y="2148840"/>
            <a:ext cx="9400032" cy="1078992"/>
          </a:xfrm>
          <a:prstGeom prst="roundRect">
            <a:avLst>
              <a:gd name="adj" fmla="val 5085"/>
            </a:avLst>
          </a:prstGeom>
          <a:solidFill>
            <a:srgbClr val="101B2D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8912" y="2295144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238658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726"/>
                </a:solidFill>
              </a:rPr>
              <a:t>Planning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7472" y="3401568"/>
            <a:ext cx="9400032" cy="987552"/>
          </a:xfrm>
          <a:prstGeom prst="roundRect">
            <a:avLst>
              <a:gd name="adj" fmla="val 5556"/>
            </a:avLst>
          </a:prstGeom>
          <a:solidFill>
            <a:srgbClr val="101B2D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3547872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6928" y="363931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726"/>
                </a:solidFill>
              </a:rPr>
              <a:t>Draft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7472" y="4572000"/>
            <a:ext cx="9400032" cy="1115568"/>
          </a:xfrm>
          <a:prstGeom prst="roundRect">
            <a:avLst>
              <a:gd name="adj" fmla="val 4918"/>
            </a:avLst>
          </a:prstGeom>
          <a:solidFill>
            <a:srgbClr val="101B2D"/>
          </a:solidFill>
          <a:ln w="12700">
            <a:solidFill>
              <a:srgbClr val="20324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4718304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" y="480974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726"/>
                </a:solidFill>
              </a:rPr>
              <a:t>Assembly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60320" y="1563624"/>
            <a:ext cx="1554480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92040" y="1563624"/>
            <a:ext cx="1490472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32320" y="1563624"/>
            <a:ext cx="1508760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487168" y="1892808"/>
            <a:ext cx="0" cy="448056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246120" y="2688336"/>
            <a:ext cx="274320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526280" y="2688336"/>
            <a:ext cx="274320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806440" y="2688336"/>
            <a:ext cx="274320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086600" y="2688336"/>
            <a:ext cx="274320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366760" y="2688336"/>
            <a:ext cx="228600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487168" y="3054096"/>
            <a:ext cx="0" cy="45720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337560" y="3877056"/>
            <a:ext cx="384048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910328" y="3877056"/>
            <a:ext cx="310896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409944" y="3877056"/>
            <a:ext cx="310896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909560" y="3877056"/>
            <a:ext cx="301752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2487168" y="4224528"/>
            <a:ext cx="0" cy="512064"/>
          </a:xfrm>
          <a:prstGeom prst="line">
            <a:avLst/>
          </a:prstGeom>
          <a:noFill/>
          <a:ln w="17780">
            <a:solidFill>
              <a:srgbClr val="FB923C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3374136" y="5148072"/>
            <a:ext cx="356616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4901184" y="5148072"/>
            <a:ext cx="338328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409944" y="5148072"/>
            <a:ext cx="338328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918704" y="5148072"/>
            <a:ext cx="310896" cy="0"/>
          </a:xfrm>
          <a:prstGeom prst="line">
            <a:avLst/>
          </a:prstGeom>
          <a:noFill/>
          <a:ln w="15240">
            <a:solidFill>
              <a:srgbClr val="5B708B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938528" y="1234440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14263D"/>
          </a:solidFill>
          <a:ln w="1778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1938528" y="1234440"/>
            <a:ext cx="100584" cy="6583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03120" y="132588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Story Input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2103120" y="1655064"/>
            <a:ext cx="125272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CBD5E1"/>
                </a:solidFill>
              </a:rPr>
              <a:t>Concept, prompt, script, and creator settings</a:t>
            </a:r>
            <a:endParaRPr lang="en-US" sz="890" dirty="0"/>
          </a:p>
        </p:txBody>
      </p:sp>
      <p:sp>
        <p:nvSpPr>
          <p:cNvPr id="54" name="Shape 52"/>
          <p:cNvSpPr/>
          <p:nvPr/>
        </p:nvSpPr>
        <p:spPr>
          <a:xfrm>
            <a:off x="3703320" y="1234440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14263D"/>
          </a:solidFill>
          <a:ln w="1778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703320" y="1234440"/>
            <a:ext cx="100584" cy="6583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67912" y="132588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Story Expansion</a:t>
            </a:r>
            <a:endParaRPr lang="en-US" sz="1130" dirty="0"/>
          </a:p>
        </p:txBody>
      </p:sp>
      <p:sp>
        <p:nvSpPr>
          <p:cNvPr id="57" name="Text 55"/>
          <p:cNvSpPr/>
          <p:nvPr/>
        </p:nvSpPr>
        <p:spPr>
          <a:xfrm>
            <a:off x="3867912" y="1655064"/>
            <a:ext cx="125272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</a:rPr>
              <a:t>Summary, arc, tone, pacing, world rules, mood, and sound cues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5468112" y="1234440"/>
            <a:ext cx="1481328" cy="658368"/>
          </a:xfrm>
          <a:prstGeom prst="roundRect">
            <a:avLst>
              <a:gd name="adj" fmla="val 8333"/>
            </a:avLst>
          </a:prstGeom>
          <a:solidFill>
            <a:srgbClr val="14263D"/>
          </a:solidFill>
          <a:ln w="1778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468112" y="1234440"/>
            <a:ext cx="10058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32704" y="1325880"/>
            <a:ext cx="1252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F8FAFC"/>
                </a:solidFill>
              </a:rPr>
              <a:t>Character &amp; Voice</a:t>
            </a:r>
            <a:endParaRPr lang="en-US" sz="1110" dirty="0"/>
          </a:p>
        </p:txBody>
      </p:sp>
      <p:sp>
        <p:nvSpPr>
          <p:cNvPr id="61" name="Text 59"/>
          <p:cNvSpPr/>
          <p:nvPr/>
        </p:nvSpPr>
        <p:spPr>
          <a:xfrm>
            <a:off x="5632704" y="1655064"/>
            <a:ext cx="1252728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Persistent IDs, visual profile, reference assets, and voice map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251192" y="1234440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14263D"/>
          </a:solidFill>
          <a:ln w="1778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251192" y="1234440"/>
            <a:ext cx="100584" cy="658368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15784" y="13258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8FAFC"/>
                </a:solidFill>
              </a:rPr>
              <a:t>Location &amp; Mood</a:t>
            </a:r>
            <a:endParaRPr lang="en-US" sz="1140" dirty="0"/>
          </a:p>
        </p:txBody>
      </p:sp>
      <p:sp>
        <p:nvSpPr>
          <p:cNvPr id="65" name="Text 63"/>
          <p:cNvSpPr/>
          <p:nvPr/>
        </p:nvSpPr>
        <p:spPr>
          <a:xfrm>
            <a:off x="7415784" y="1655064"/>
            <a:ext cx="14173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CBD5E1"/>
                </a:solidFill>
              </a:rPr>
              <a:t>Place, weather, lighting, emotion, and atmosphere inputs</a:t>
            </a:r>
            <a:endParaRPr lang="en-US" sz="770" dirty="0"/>
          </a:p>
        </p:txBody>
      </p:sp>
      <p:sp>
        <p:nvSpPr>
          <p:cNvPr id="66" name="Shape 64"/>
          <p:cNvSpPr/>
          <p:nvPr/>
        </p:nvSpPr>
        <p:spPr>
          <a:xfrm>
            <a:off x="1920240" y="2340864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14263D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1920240" y="2340864"/>
            <a:ext cx="10058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084832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Scene Breakdown</a:t>
            </a:r>
            <a:endParaRPr lang="en-US" sz="1130" dirty="0"/>
          </a:p>
        </p:txBody>
      </p:sp>
      <p:sp>
        <p:nvSpPr>
          <p:cNvPr id="69" name="Text 67"/>
          <p:cNvSpPr/>
          <p:nvPr/>
        </p:nvSpPr>
        <p:spPr>
          <a:xfrm>
            <a:off x="2084832" y="2761488"/>
            <a:ext cx="9144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CBD5E1"/>
                </a:solidFill>
              </a:rPr>
              <a:t>Create structured scene objects</a:t>
            </a:r>
            <a:endParaRPr lang="en-US" sz="790" dirty="0"/>
          </a:p>
        </p:txBody>
      </p:sp>
      <p:sp>
        <p:nvSpPr>
          <p:cNvPr id="70" name="Shape 68"/>
          <p:cNvSpPr/>
          <p:nvPr/>
        </p:nvSpPr>
        <p:spPr>
          <a:xfrm>
            <a:off x="3246120" y="2340864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14263D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3246120" y="2340864"/>
            <a:ext cx="10058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10712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Scene Type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3410712" y="2761488"/>
            <a:ext cx="9144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</a:rPr>
              <a:t>Choose the hybrid scene category</a:t>
            </a:r>
            <a:endParaRPr lang="en-US" sz="870" dirty="0"/>
          </a:p>
        </p:txBody>
      </p:sp>
      <p:sp>
        <p:nvSpPr>
          <p:cNvPr id="74" name="Shape 72"/>
          <p:cNvSpPr/>
          <p:nvPr/>
        </p:nvSpPr>
        <p:spPr>
          <a:xfrm>
            <a:off x="4572000" y="2340864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14263D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4572000" y="2340864"/>
            <a:ext cx="10058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36592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</a:rPr>
              <a:t>Scene Scoring</a:t>
            </a:r>
            <a:endParaRPr lang="en-US" sz="1120" dirty="0"/>
          </a:p>
        </p:txBody>
      </p:sp>
      <p:sp>
        <p:nvSpPr>
          <p:cNvPr id="77" name="Text 75"/>
          <p:cNvSpPr/>
          <p:nvPr/>
        </p:nvSpPr>
        <p:spPr>
          <a:xfrm>
            <a:off x="4736592" y="2761488"/>
            <a:ext cx="9144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Motion, dialogue, emotion, narration, and cost</a:t>
            </a:r>
            <a:endParaRPr lang="en-US" sz="780" dirty="0"/>
          </a:p>
        </p:txBody>
      </p:sp>
      <p:sp>
        <p:nvSpPr>
          <p:cNvPr id="78" name="Shape 76"/>
          <p:cNvSpPr/>
          <p:nvPr/>
        </p:nvSpPr>
        <p:spPr>
          <a:xfrm>
            <a:off x="5897880" y="2340864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14263D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5897880" y="2340864"/>
            <a:ext cx="10058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62472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F8FAFC"/>
                </a:solidFill>
              </a:rPr>
              <a:t>Shot Planning</a:t>
            </a:r>
            <a:endParaRPr lang="en-US" sz="1120" dirty="0"/>
          </a:p>
        </p:txBody>
      </p:sp>
      <p:sp>
        <p:nvSpPr>
          <p:cNvPr id="81" name="Text 79"/>
          <p:cNvSpPr/>
          <p:nvPr/>
        </p:nvSpPr>
        <p:spPr>
          <a:xfrm>
            <a:off x="6062472" y="2761488"/>
            <a:ext cx="9144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Shot IDs, framing, speakers, camera, duration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7223760" y="2340864"/>
            <a:ext cx="1143000" cy="713232"/>
          </a:xfrm>
          <a:prstGeom prst="roundRect">
            <a:avLst>
              <a:gd name="adj" fmla="val 7692"/>
            </a:avLst>
          </a:prstGeom>
          <a:solidFill>
            <a:srgbClr val="14263D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7223760" y="2340864"/>
            <a:ext cx="10058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388352" y="2432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F8FAFC"/>
                </a:solidFill>
              </a:rPr>
              <a:t>Dialogue Map</a:t>
            </a:r>
            <a:endParaRPr lang="en-US" sz="1130" dirty="0"/>
          </a:p>
        </p:txBody>
      </p:sp>
      <p:sp>
        <p:nvSpPr>
          <p:cNvPr id="85" name="Text 83"/>
          <p:cNvSpPr/>
          <p:nvPr/>
        </p:nvSpPr>
        <p:spPr>
          <a:xfrm>
            <a:off x="7388352" y="2761488"/>
            <a:ext cx="91440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Each line ties to character, voice, scene, and shot IDs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549640" y="2340864"/>
            <a:ext cx="1024128" cy="713232"/>
          </a:xfrm>
          <a:prstGeom prst="roundRect">
            <a:avLst>
              <a:gd name="adj" fmla="val 7692"/>
            </a:avLst>
          </a:prstGeom>
          <a:solidFill>
            <a:srgbClr val="14263D"/>
          </a:solidFill>
          <a:ln w="17780">
            <a:solidFill>
              <a:srgbClr val="A78B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549640" y="2340864"/>
            <a:ext cx="10058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714232" y="243230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</a:rPr>
              <a:t>Narration / Audio</a:t>
            </a:r>
            <a:endParaRPr lang="en-US" sz="1000" dirty="0"/>
          </a:p>
        </p:txBody>
      </p:sp>
      <p:sp>
        <p:nvSpPr>
          <p:cNvPr id="89" name="Text 87"/>
          <p:cNvSpPr/>
          <p:nvPr/>
        </p:nvSpPr>
        <p:spPr>
          <a:xfrm>
            <a:off x="8714232" y="2761488"/>
            <a:ext cx="795528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CBD5E1"/>
                </a:solidFill>
              </a:rPr>
              <a:t>Narration mode, ambience, SFX, and music plan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1920240" y="3511296"/>
            <a:ext cx="1325880" cy="713232"/>
          </a:xfrm>
          <a:prstGeom prst="roundRect">
            <a:avLst>
              <a:gd name="adj" fmla="val 7692"/>
            </a:avLst>
          </a:prstGeom>
          <a:solidFill>
            <a:srgbClr val="14263D"/>
          </a:solidFill>
          <a:ln w="1778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1920240" y="3511296"/>
            <a:ext cx="100584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084832" y="3602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70" b="1" dirty="0">
                <a:solidFill>
                  <a:srgbClr val="F8FAFC"/>
                </a:solidFill>
              </a:rPr>
              <a:t>Media Routing</a:t>
            </a:r>
            <a:endParaRPr lang="en-US" sz="1170" dirty="0"/>
          </a:p>
        </p:txBody>
      </p:sp>
      <p:sp>
        <p:nvSpPr>
          <p:cNvPr id="93" name="Text 91"/>
          <p:cNvSpPr/>
          <p:nvPr/>
        </p:nvSpPr>
        <p:spPr>
          <a:xfrm>
            <a:off x="2084832" y="3931920"/>
            <a:ext cx="10972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90" dirty="0">
                <a:solidFill>
                  <a:srgbClr val="CBD5E1"/>
                </a:solidFill>
              </a:rPr>
              <a:t>Select image, motion, video, or audio bridge path</a:t>
            </a:r>
            <a:endParaRPr lang="en-US" sz="790" dirty="0"/>
          </a:p>
        </p:txBody>
      </p:sp>
      <p:sp>
        <p:nvSpPr>
          <p:cNvPr id="94" name="Shape 92"/>
          <p:cNvSpPr/>
          <p:nvPr/>
        </p:nvSpPr>
        <p:spPr>
          <a:xfrm>
            <a:off x="3447288" y="3511296"/>
            <a:ext cx="1325880" cy="713232"/>
          </a:xfrm>
          <a:prstGeom prst="roundRect">
            <a:avLst>
              <a:gd name="adj" fmla="val 7692"/>
            </a:avLst>
          </a:prstGeom>
          <a:solidFill>
            <a:srgbClr val="14263D"/>
          </a:solidFill>
          <a:ln w="1778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3447288" y="3511296"/>
            <a:ext cx="100584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611880" y="3602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Ref Check</a:t>
            </a:r>
            <a:endParaRPr lang="en-US" sz="1250" dirty="0"/>
          </a:p>
        </p:txBody>
      </p:sp>
      <p:sp>
        <p:nvSpPr>
          <p:cNvPr id="97" name="Text 95"/>
          <p:cNvSpPr/>
          <p:nvPr/>
        </p:nvSpPr>
        <p:spPr>
          <a:xfrm>
            <a:off x="3611880" y="3931920"/>
            <a:ext cx="10972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Confirm character references before generation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974336" y="3511296"/>
            <a:ext cx="1325880" cy="713232"/>
          </a:xfrm>
          <a:prstGeom prst="roundRect">
            <a:avLst>
              <a:gd name="adj" fmla="val 7692"/>
            </a:avLst>
          </a:prstGeom>
          <a:solidFill>
            <a:srgbClr val="14263D"/>
          </a:solidFill>
          <a:ln w="1778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4974336" y="3511296"/>
            <a:ext cx="100584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138928" y="3602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Still Preview</a:t>
            </a:r>
            <a:endParaRPr lang="en-US" sz="1250" dirty="0"/>
          </a:p>
        </p:txBody>
      </p:sp>
      <p:sp>
        <p:nvSpPr>
          <p:cNvPr id="101" name="Text 99"/>
          <p:cNvSpPr/>
          <p:nvPr/>
        </p:nvSpPr>
        <p:spPr>
          <a:xfrm>
            <a:off x="5138928" y="3931920"/>
            <a:ext cx="10972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Establishing frame and composition draft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6501384" y="3511296"/>
            <a:ext cx="1325880" cy="713232"/>
          </a:xfrm>
          <a:prstGeom prst="roundRect">
            <a:avLst>
              <a:gd name="adj" fmla="val 7692"/>
            </a:avLst>
          </a:prstGeom>
          <a:solidFill>
            <a:srgbClr val="14263D"/>
          </a:solidFill>
          <a:ln w="1778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6501384" y="3511296"/>
            <a:ext cx="100584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665976" y="36027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Shot Generation</a:t>
            </a:r>
            <a:endParaRPr lang="en-US" sz="1250" dirty="0"/>
          </a:p>
        </p:txBody>
      </p:sp>
      <p:sp>
        <p:nvSpPr>
          <p:cNvPr id="105" name="Text 103"/>
          <p:cNvSpPr/>
          <p:nvPr/>
        </p:nvSpPr>
        <p:spPr>
          <a:xfrm>
            <a:off x="6665976" y="3931920"/>
            <a:ext cx="109728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CBD5E1"/>
                </a:solidFill>
              </a:rPr>
              <a:t>Generate only the approved scene and shot types</a:t>
            </a:r>
            <a:endParaRPr lang="en-US" sz="830" dirty="0"/>
          </a:p>
        </p:txBody>
      </p:sp>
      <p:sp>
        <p:nvSpPr>
          <p:cNvPr id="106" name="Shape 104"/>
          <p:cNvSpPr/>
          <p:nvPr/>
        </p:nvSpPr>
        <p:spPr>
          <a:xfrm>
            <a:off x="8028432" y="3511296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14263D"/>
          </a:solidFill>
          <a:ln w="1778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8028432" y="3511296"/>
            <a:ext cx="100584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193024" y="36027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8FAFC"/>
                </a:solidFill>
              </a:rPr>
              <a:t>Review &amp; Overrides</a:t>
            </a:r>
            <a:endParaRPr lang="en-US" sz="1080" dirty="0"/>
          </a:p>
        </p:txBody>
      </p:sp>
      <p:sp>
        <p:nvSpPr>
          <p:cNvPr id="109" name="Text 107"/>
          <p:cNvSpPr/>
          <p:nvPr/>
        </p:nvSpPr>
        <p:spPr>
          <a:xfrm>
            <a:off x="8193024" y="3931920"/>
            <a:ext cx="1188720" cy="2377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CBD5E1"/>
                </a:solidFill>
              </a:rPr>
              <a:t>User edits scene type, narration, cost, audio, or regeneration</a:t>
            </a:r>
            <a:endParaRPr lang="en-US" sz="730" dirty="0"/>
          </a:p>
        </p:txBody>
      </p:sp>
      <p:sp>
        <p:nvSpPr>
          <p:cNvPr id="110" name="Shape 108"/>
          <p:cNvSpPr/>
          <p:nvPr/>
        </p:nvSpPr>
        <p:spPr>
          <a:xfrm>
            <a:off x="1920240" y="4736592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4263D"/>
          </a:solidFill>
          <a:ln w="1778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1920240" y="4736592"/>
            <a:ext cx="100584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084832" y="4828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Validation</a:t>
            </a:r>
            <a:endParaRPr lang="en-US" sz="1250" dirty="0"/>
          </a:p>
        </p:txBody>
      </p:sp>
      <p:sp>
        <p:nvSpPr>
          <p:cNvPr id="113" name="Text 111"/>
          <p:cNvSpPr/>
          <p:nvPr/>
        </p:nvSpPr>
        <p:spPr>
          <a:xfrm>
            <a:off x="2084832" y="5157216"/>
            <a:ext cx="10972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Continuity, assets, timing, and voice-map checks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3456432" y="4736592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4263D"/>
          </a:solidFill>
          <a:ln w="17780">
            <a:solidFill>
              <a:srgbClr val="FB923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3456432" y="4736592"/>
            <a:ext cx="100584" cy="7498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621024" y="4828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Assemble</a:t>
            </a:r>
            <a:endParaRPr lang="en-US" sz="1250" dirty="0"/>
          </a:p>
        </p:txBody>
      </p:sp>
      <p:sp>
        <p:nvSpPr>
          <p:cNvPr id="117" name="Text 115"/>
          <p:cNvSpPr/>
          <p:nvPr/>
        </p:nvSpPr>
        <p:spPr>
          <a:xfrm>
            <a:off x="3621024" y="5157216"/>
            <a:ext cx="10972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CBD5E1"/>
                </a:solidFill>
              </a:rPr>
              <a:t>Starts only after the explicit user trigger</a:t>
            </a:r>
            <a:endParaRPr lang="en-US" sz="840" dirty="0"/>
          </a:p>
        </p:txBody>
      </p:sp>
      <p:sp>
        <p:nvSpPr>
          <p:cNvPr id="118" name="Shape 116"/>
          <p:cNvSpPr/>
          <p:nvPr/>
        </p:nvSpPr>
        <p:spPr>
          <a:xfrm>
            <a:off x="4983480" y="4736592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4263D"/>
          </a:solidFill>
          <a:ln w="17780">
            <a:solidFill>
              <a:srgbClr val="FB923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4983480" y="4736592"/>
            <a:ext cx="100584" cy="7498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148072" y="4828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Timeline Build</a:t>
            </a:r>
            <a:endParaRPr lang="en-US" sz="1150" dirty="0"/>
          </a:p>
        </p:txBody>
      </p:sp>
      <p:sp>
        <p:nvSpPr>
          <p:cNvPr id="121" name="Text 119"/>
          <p:cNvSpPr/>
          <p:nvPr/>
        </p:nvSpPr>
        <p:spPr>
          <a:xfrm>
            <a:off x="5148072" y="5157216"/>
            <a:ext cx="10972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BD5E1"/>
                </a:solidFill>
              </a:rPr>
              <a:t>Merge scenes and sync dialogue, audio, and transitions</a:t>
            </a:r>
            <a:endParaRPr lang="en-US" sz="780" dirty="0"/>
          </a:p>
        </p:txBody>
      </p:sp>
      <p:sp>
        <p:nvSpPr>
          <p:cNvPr id="122" name="Shape 120"/>
          <p:cNvSpPr/>
          <p:nvPr/>
        </p:nvSpPr>
        <p:spPr>
          <a:xfrm>
            <a:off x="6510528" y="4736592"/>
            <a:ext cx="1325880" cy="749808"/>
          </a:xfrm>
          <a:prstGeom prst="roundRect">
            <a:avLst>
              <a:gd name="adj" fmla="val 7317"/>
            </a:avLst>
          </a:prstGeom>
          <a:solidFill>
            <a:srgbClr val="14263D"/>
          </a:solidFill>
          <a:ln w="17780">
            <a:solidFill>
              <a:srgbClr val="FB923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6510528" y="4736592"/>
            <a:ext cx="100584" cy="7498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675120" y="4828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Finishing</a:t>
            </a:r>
            <a:endParaRPr lang="en-US" sz="1250" dirty="0"/>
          </a:p>
        </p:txBody>
      </p:sp>
      <p:sp>
        <p:nvSpPr>
          <p:cNvPr id="125" name="Text 123"/>
          <p:cNvSpPr/>
          <p:nvPr/>
        </p:nvSpPr>
        <p:spPr>
          <a:xfrm>
            <a:off x="6675120" y="5157216"/>
            <a:ext cx="109728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CBD5E1"/>
                </a:solidFill>
              </a:rPr>
              <a:t>Trim, reorder, subtitles, mute, lock, or replace</a:t>
            </a:r>
            <a:endParaRPr lang="en-US" sz="830" dirty="0"/>
          </a:p>
        </p:txBody>
      </p:sp>
      <p:sp>
        <p:nvSpPr>
          <p:cNvPr id="126" name="Shape 124"/>
          <p:cNvSpPr/>
          <p:nvPr/>
        </p:nvSpPr>
        <p:spPr>
          <a:xfrm>
            <a:off x="8037576" y="4736592"/>
            <a:ext cx="1417320" cy="749808"/>
          </a:xfrm>
          <a:prstGeom prst="roundRect">
            <a:avLst>
              <a:gd name="adj" fmla="val 7317"/>
            </a:avLst>
          </a:prstGeom>
          <a:solidFill>
            <a:srgbClr val="14263D"/>
          </a:solidFill>
          <a:ln w="17780">
            <a:solidFill>
              <a:srgbClr val="FB923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8037576" y="4736592"/>
            <a:ext cx="100584" cy="7498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202168" y="4828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Export / Render</a:t>
            </a:r>
            <a:endParaRPr lang="en-US" sz="1100" dirty="0"/>
          </a:p>
        </p:txBody>
      </p:sp>
      <p:sp>
        <p:nvSpPr>
          <p:cNvPr id="129" name="Text 127"/>
          <p:cNvSpPr/>
          <p:nvPr/>
        </p:nvSpPr>
        <p:spPr>
          <a:xfrm>
            <a:off x="8202168" y="5157216"/>
            <a:ext cx="118872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Render only after final sync and continuity checks pass</a:t>
            </a:r>
            <a:endParaRPr lang="en-US" sz="750" dirty="0"/>
          </a:p>
        </p:txBody>
      </p:sp>
      <p:sp>
        <p:nvSpPr>
          <p:cNvPr id="130" name="Text 128"/>
          <p:cNvSpPr/>
          <p:nvPr/>
        </p:nvSpPr>
        <p:spPr>
          <a:xfrm>
            <a:off x="566928" y="5907024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i="1" dirty="0">
                <a:solidFill>
                  <a:srgbClr val="CBD5E1"/>
                </a:solidFill>
              </a:rPr>
              <a:t>The system stays editable until review is complete and the user explicitly chooses assembly.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Architecture &amp; Validation Rules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is governed by persistent objects, scene-aware narration, continuity checks, and selective regeneration.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62472" y="1837944"/>
            <a:ext cx="0" cy="201168"/>
          </a:xfrm>
          <a:prstGeom prst="line">
            <a:avLst/>
          </a:prstGeom>
          <a:noFill/>
          <a:ln w="15240">
            <a:solidFill>
              <a:srgbClr val="46617E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062472" y="2368296"/>
            <a:ext cx="0" cy="201168"/>
          </a:xfrm>
          <a:prstGeom prst="line">
            <a:avLst/>
          </a:prstGeom>
          <a:noFill/>
          <a:ln w="15240">
            <a:solidFill>
              <a:srgbClr val="46617E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062472" y="2898648"/>
            <a:ext cx="0" cy="201168"/>
          </a:xfrm>
          <a:prstGeom prst="line">
            <a:avLst/>
          </a:prstGeom>
          <a:noFill/>
          <a:ln w="15240">
            <a:solidFill>
              <a:srgbClr val="46617E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62472" y="3429000"/>
            <a:ext cx="0" cy="201168"/>
          </a:xfrm>
          <a:prstGeom prst="line">
            <a:avLst/>
          </a:prstGeom>
          <a:noFill/>
          <a:ln w="15240">
            <a:solidFill>
              <a:srgbClr val="46617E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62472" y="3959352"/>
            <a:ext cx="0" cy="201168"/>
          </a:xfrm>
          <a:prstGeom prst="line">
            <a:avLst/>
          </a:prstGeom>
          <a:noFill/>
          <a:ln w="15240">
            <a:solidFill>
              <a:srgbClr val="46617E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062472" y="4489704"/>
            <a:ext cx="0" cy="201168"/>
          </a:xfrm>
          <a:prstGeom prst="line">
            <a:avLst/>
          </a:prstGeom>
          <a:noFill/>
          <a:ln w="15240">
            <a:solidFill>
              <a:srgbClr val="46617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1938528"/>
            <a:ext cx="1261872" cy="0"/>
          </a:xfrm>
          <a:prstGeom prst="line">
            <a:avLst/>
          </a:prstGeom>
          <a:noFill/>
          <a:ln w="13970">
            <a:solidFill>
              <a:srgbClr val="46617E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57600" y="2880360"/>
            <a:ext cx="1261872" cy="0"/>
          </a:xfrm>
          <a:prstGeom prst="line">
            <a:avLst/>
          </a:prstGeom>
          <a:noFill/>
          <a:ln w="13970">
            <a:solidFill>
              <a:srgbClr val="46617E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0" y="3840480"/>
            <a:ext cx="1261872" cy="0"/>
          </a:xfrm>
          <a:prstGeom prst="line">
            <a:avLst/>
          </a:prstGeom>
          <a:noFill/>
          <a:ln w="13970">
            <a:solidFill>
              <a:srgbClr val="46617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23760" y="1920240"/>
            <a:ext cx="1188720" cy="0"/>
          </a:xfrm>
          <a:prstGeom prst="line">
            <a:avLst/>
          </a:prstGeom>
          <a:noFill/>
          <a:ln w="13970">
            <a:solidFill>
              <a:srgbClr val="46617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23760" y="2889504"/>
            <a:ext cx="1188720" cy="0"/>
          </a:xfrm>
          <a:prstGeom prst="line">
            <a:avLst/>
          </a:prstGeom>
          <a:noFill/>
          <a:ln w="13970">
            <a:solidFill>
              <a:srgbClr val="46617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23760" y="3858768"/>
            <a:ext cx="1188720" cy="0"/>
          </a:xfrm>
          <a:prstGeom prst="line">
            <a:avLst/>
          </a:prstGeom>
          <a:noFill/>
          <a:ln w="13970">
            <a:solidFill>
              <a:srgbClr val="46617E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" y="1280160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14263D"/>
          </a:solidFill>
          <a:ln w="15240">
            <a:solidFill>
              <a:srgbClr val="FBBF24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" y="138988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Non-negotiable laws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" y="1664208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Characters exist as structured identity objects with persistent Character IDs.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
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Stories must become scene objects before any rendering or assembly.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542032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14263D"/>
          </a:solidFill>
          <a:ln w="15240">
            <a:solidFill>
              <a:srgbClr val="FB923C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" y="26517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Draft-first operating model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" y="2926080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Scenes remain separate, editable, and cost-visible in draft state.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
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Assembly begins only after “Assemble My Scenes.”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803904"/>
            <a:ext cx="3246120" cy="1051560"/>
          </a:xfrm>
          <a:prstGeom prst="roundRect">
            <a:avLst>
              <a:gd name="adj" fmla="val 5217"/>
            </a:avLst>
          </a:prstGeom>
          <a:solidFill>
            <a:srgbClr val="14263D"/>
          </a:solidFill>
          <a:ln w="15240">
            <a:solidFill>
              <a:srgbClr val="2DD4B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" y="39136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Planning and continuity rules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" y="4187952"/>
            <a:ext cx="29900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No local LLM for core planning authority.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
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Retries and replacements must preserve identity and voice stability.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078992"/>
            <a:ext cx="2697480" cy="4041648"/>
          </a:xfrm>
          <a:prstGeom prst="roundRect">
            <a:avLst>
              <a:gd name="adj" fmla="val 2034"/>
            </a:avLst>
          </a:prstGeom>
          <a:solidFill>
            <a:srgbClr val="101B2D"/>
          </a:solidFill>
          <a:ln w="13970">
            <a:solidFill>
              <a:srgbClr val="2032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24358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</a:rPr>
              <a:t>Source-of-truth object stack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74920" y="1508760"/>
            <a:ext cx="1965960" cy="329184"/>
          </a:xfrm>
          <a:prstGeom prst="roundRect">
            <a:avLst>
              <a:gd name="adj" fmla="val 11111"/>
            </a:avLst>
          </a:prstGeom>
          <a:solidFill>
            <a:srgbClr val="14263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160020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Character Object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74920" y="2039112"/>
            <a:ext cx="1965960" cy="329184"/>
          </a:xfrm>
          <a:prstGeom prst="roundRect">
            <a:avLst>
              <a:gd name="adj" fmla="val 11111"/>
            </a:avLst>
          </a:prstGeom>
          <a:solidFill>
            <a:srgbClr val="14263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2130552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Voice Registry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2569464"/>
            <a:ext cx="1965960" cy="329184"/>
          </a:xfrm>
          <a:prstGeom prst="roundRect">
            <a:avLst>
              <a:gd name="adj" fmla="val 11111"/>
            </a:avLst>
          </a:prstGeom>
          <a:solidFill>
            <a:srgbClr val="14263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266090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Scene Object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3099816"/>
            <a:ext cx="1965960" cy="329184"/>
          </a:xfrm>
          <a:prstGeom prst="roundRect">
            <a:avLst>
              <a:gd name="adj" fmla="val 11111"/>
            </a:avLst>
          </a:prstGeom>
          <a:solidFill>
            <a:srgbClr val="14263D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12080" y="3191256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Shot Object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74920" y="3630168"/>
            <a:ext cx="1965960" cy="329184"/>
          </a:xfrm>
          <a:prstGeom prst="roundRect">
            <a:avLst>
              <a:gd name="adj" fmla="val 11111"/>
            </a:avLst>
          </a:prstGeom>
          <a:solidFill>
            <a:srgbClr val="14263D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0" y="3721608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Dialogue Line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74920" y="4160520"/>
            <a:ext cx="1965960" cy="329184"/>
          </a:xfrm>
          <a:prstGeom prst="roundRect">
            <a:avLst>
              <a:gd name="adj" fmla="val 11111"/>
            </a:avLst>
          </a:prstGeom>
          <a:solidFill>
            <a:srgbClr val="14263D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4251960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Audio Plan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74920" y="4690872"/>
            <a:ext cx="1965960" cy="329184"/>
          </a:xfrm>
          <a:prstGeom prst="roundRect">
            <a:avLst>
              <a:gd name="adj" fmla="val 11111"/>
            </a:avLst>
          </a:prstGeom>
          <a:solidFill>
            <a:srgbClr val="14263D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4782312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AFC"/>
                </a:solidFill>
              </a:rPr>
              <a:t>Asset Registry / Timeline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458200" y="1298448"/>
            <a:ext cx="3200400" cy="1024128"/>
          </a:xfrm>
          <a:prstGeom prst="roundRect">
            <a:avLst>
              <a:gd name="adj" fmla="val 5357"/>
            </a:avLst>
          </a:prstGeom>
          <a:solidFill>
            <a:srgbClr val="14263D"/>
          </a:solidFill>
          <a:ln w="15240">
            <a:solidFill>
              <a:srgbClr val="A78B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604504" y="140817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Scene-aware narration engine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604504" y="1682496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Image-led scenes can carry stronger narration.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
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Video-led scenes use lighter narration and let motion + audio perform.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458200" y="2560320"/>
            <a:ext cx="3200400" cy="1024128"/>
          </a:xfrm>
          <a:prstGeom prst="roundRect">
            <a:avLst>
              <a:gd name="adj" fmla="val 5357"/>
            </a:avLst>
          </a:prstGeom>
          <a:solidFill>
            <a:srgbClr val="14263D"/>
          </a:solidFill>
          <a:ln w="15240">
            <a:solidFill>
              <a:srgbClr val="34D39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604504" y="267004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Continuity validation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604504" y="2944368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Catch wrong speaker, voice mismatch, missing references, scene-order conflicts, and asset gaps.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458200" y="3822192"/>
            <a:ext cx="3200400" cy="1024128"/>
          </a:xfrm>
          <a:prstGeom prst="roundRect">
            <a:avLst>
              <a:gd name="adj" fmla="val 5357"/>
            </a:avLst>
          </a:prstGeom>
          <a:solidFill>
            <a:srgbClr val="14263D"/>
          </a:solidFill>
          <a:ln w="1524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604504" y="3931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</a:rPr>
              <a:t>Selective regeneration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604504" y="420624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</a:rPr>
              <a:t>Regenerate a shot, image, motion treatment, voice, ambience layer, or one scene—not the whole timeline.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66928" y="528523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FAFC"/>
                </a:solidFill>
              </a:rPr>
              <a:t>Hybrid scene types and their preferred storytelling behavior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566928" y="5532120"/>
            <a:ext cx="2148840" cy="676656"/>
          </a:xfrm>
          <a:prstGeom prst="roundRect">
            <a:avLst>
              <a:gd name="adj" fmla="val 8108"/>
            </a:avLst>
          </a:prstGeom>
          <a:solidFill>
            <a:srgbClr val="122033"/>
          </a:solidFill>
          <a:ln w="14605">
            <a:solidFill>
              <a:srgbClr val="2DD4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" y="56418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Image-led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76656" y="5879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Setup, atmosphere, emotion; narration usually medium to high.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2834640" y="5532120"/>
            <a:ext cx="2148840" cy="676656"/>
          </a:xfrm>
          <a:prstGeom prst="roundRect">
            <a:avLst>
              <a:gd name="adj" fmla="val 8108"/>
            </a:avLst>
          </a:prstGeom>
          <a:solidFill>
            <a:srgbClr val="122033"/>
          </a:solidFill>
          <a:ln w="14605">
            <a:solidFill>
              <a:srgbClr val="FB92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44368" y="56418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Video-led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2944368" y="5879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Action, reaction, payoff; narration usually low or none.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5102352" y="5532120"/>
            <a:ext cx="2148840" cy="676656"/>
          </a:xfrm>
          <a:prstGeom prst="roundRect">
            <a:avLst>
              <a:gd name="adj" fmla="val 8108"/>
            </a:avLst>
          </a:prstGeom>
          <a:solidFill>
            <a:srgbClr val="122033"/>
          </a:solidFill>
          <a:ln w="14605">
            <a:solidFill>
              <a:srgbClr val="60A5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2080" y="56418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Image-to-video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5212080" y="5879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Narration can taper as motion takes over.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7370064" y="5532120"/>
            <a:ext cx="2148840" cy="676656"/>
          </a:xfrm>
          <a:prstGeom prst="roundRect">
            <a:avLst>
              <a:gd name="adj" fmla="val 8108"/>
            </a:avLst>
          </a:prstGeom>
          <a:solidFill>
            <a:srgbClr val="122033"/>
          </a:solidFill>
          <a:ln w="14605">
            <a:solidFill>
              <a:srgbClr val="34D3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79792" y="56418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Audio-heavy bridge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7479792" y="5879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Transitions, unseen events, suspense, time passage.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9637776" y="5532120"/>
            <a:ext cx="2011680" cy="676656"/>
          </a:xfrm>
          <a:prstGeom prst="roundRect">
            <a:avLst>
              <a:gd name="adj" fmla="val 8108"/>
            </a:avLst>
          </a:prstGeom>
          <a:solidFill>
            <a:srgbClr val="122033"/>
          </a:solidFill>
          <a:ln w="14605">
            <a:solidFill>
              <a:srgbClr val="A78BF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47504" y="56418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FAFC"/>
                </a:solidFill>
              </a:rPr>
              <a:t>Hybrid scene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9747504" y="5879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CBD5E1"/>
                </a:solidFill>
              </a:rPr>
              <a:t>Narration adapts per shot inside the scene.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GHS Hybrid Master Workflow</dc:title>
  <dc:subject>GHS Hybrid Master Workflow Visual</dc:subject>
  <dc:creator>OpenAI</dc:creator>
  <cp:lastModifiedBy>OpenAI</cp:lastModifiedBy>
  <cp:revision>1</cp:revision>
  <dcterms:created xsi:type="dcterms:W3CDTF">2026-04-13T08:30:00Z</dcterms:created>
  <dcterms:modified xsi:type="dcterms:W3CDTF">2026-04-13T08:30:00Z</dcterms:modified>
</cp:coreProperties>
</file>